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00" y="-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83CCF-AD13-4CFE-81DB-451559D1F49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9F487-31F4-47CA-9344-18CAD7168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0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F487-31F4-47CA-9344-18CAD7168F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629" y="334390"/>
            <a:ext cx="276225" cy="226695"/>
          </a:xfrm>
          <a:custGeom>
            <a:avLst/>
            <a:gdLst/>
            <a:ahLst/>
            <a:cxnLst/>
            <a:rect l="l" t="t" r="r" b="b"/>
            <a:pathLst>
              <a:path w="276225" h="226695">
                <a:moveTo>
                  <a:pt x="206883" y="0"/>
                </a:moveTo>
                <a:lnTo>
                  <a:pt x="174117" y="9651"/>
                </a:lnTo>
                <a:lnTo>
                  <a:pt x="147574" y="34670"/>
                </a:lnTo>
                <a:lnTo>
                  <a:pt x="123825" y="69468"/>
                </a:lnTo>
                <a:lnTo>
                  <a:pt x="99695" y="108330"/>
                </a:lnTo>
                <a:lnTo>
                  <a:pt x="71881" y="145414"/>
                </a:lnTo>
                <a:lnTo>
                  <a:pt x="64770" y="168528"/>
                </a:lnTo>
                <a:lnTo>
                  <a:pt x="49149" y="188340"/>
                </a:lnTo>
                <a:lnTo>
                  <a:pt x="26924" y="203199"/>
                </a:lnTo>
                <a:lnTo>
                  <a:pt x="0" y="211454"/>
                </a:lnTo>
                <a:lnTo>
                  <a:pt x="8636" y="217550"/>
                </a:lnTo>
                <a:lnTo>
                  <a:pt x="21081" y="222122"/>
                </a:lnTo>
                <a:lnTo>
                  <a:pt x="36575" y="225170"/>
                </a:lnTo>
                <a:lnTo>
                  <a:pt x="54355" y="226186"/>
                </a:lnTo>
                <a:lnTo>
                  <a:pt x="89789" y="223646"/>
                </a:lnTo>
                <a:lnTo>
                  <a:pt x="125475" y="215899"/>
                </a:lnTo>
                <a:lnTo>
                  <a:pt x="157988" y="202564"/>
                </a:lnTo>
                <a:lnTo>
                  <a:pt x="183515" y="183514"/>
                </a:lnTo>
                <a:lnTo>
                  <a:pt x="157479" y="179958"/>
                </a:lnTo>
                <a:lnTo>
                  <a:pt x="137414" y="168147"/>
                </a:lnTo>
                <a:lnTo>
                  <a:pt x="124205" y="149605"/>
                </a:lnTo>
                <a:lnTo>
                  <a:pt x="118872" y="126237"/>
                </a:lnTo>
                <a:lnTo>
                  <a:pt x="132842" y="140334"/>
                </a:lnTo>
                <a:lnTo>
                  <a:pt x="148463" y="149986"/>
                </a:lnTo>
                <a:lnTo>
                  <a:pt x="165353" y="155320"/>
                </a:lnTo>
                <a:lnTo>
                  <a:pt x="183515" y="157098"/>
                </a:lnTo>
                <a:lnTo>
                  <a:pt x="219583" y="149605"/>
                </a:lnTo>
                <a:lnTo>
                  <a:pt x="248920" y="129412"/>
                </a:lnTo>
                <a:lnTo>
                  <a:pt x="268731" y="99440"/>
                </a:lnTo>
                <a:lnTo>
                  <a:pt x="275971" y="63118"/>
                </a:lnTo>
                <a:lnTo>
                  <a:pt x="272161" y="43941"/>
                </a:lnTo>
                <a:lnTo>
                  <a:pt x="262381" y="23367"/>
                </a:lnTo>
                <a:lnTo>
                  <a:pt x="242062" y="6730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119" y="171577"/>
            <a:ext cx="419734" cy="354330"/>
          </a:xfrm>
          <a:custGeom>
            <a:avLst/>
            <a:gdLst/>
            <a:ahLst/>
            <a:cxnLst/>
            <a:rect l="l" t="t" r="r" b="b"/>
            <a:pathLst>
              <a:path w="419734" h="354330">
                <a:moveTo>
                  <a:pt x="224408" y="0"/>
                </a:moveTo>
                <a:lnTo>
                  <a:pt x="200405" y="22098"/>
                </a:lnTo>
                <a:lnTo>
                  <a:pt x="168275" y="43815"/>
                </a:lnTo>
                <a:lnTo>
                  <a:pt x="131445" y="66548"/>
                </a:lnTo>
                <a:lnTo>
                  <a:pt x="93472" y="91186"/>
                </a:lnTo>
                <a:lnTo>
                  <a:pt x="57784" y="118872"/>
                </a:lnTo>
                <a:lnTo>
                  <a:pt x="28066" y="150875"/>
                </a:lnTo>
                <a:lnTo>
                  <a:pt x="7620" y="188213"/>
                </a:lnTo>
                <a:lnTo>
                  <a:pt x="0" y="231901"/>
                </a:lnTo>
                <a:lnTo>
                  <a:pt x="5587" y="268350"/>
                </a:lnTo>
                <a:lnTo>
                  <a:pt x="45720" y="328168"/>
                </a:lnTo>
                <a:lnTo>
                  <a:pt x="97535" y="352171"/>
                </a:lnTo>
                <a:lnTo>
                  <a:pt x="117348" y="354202"/>
                </a:lnTo>
                <a:lnTo>
                  <a:pt x="137159" y="352806"/>
                </a:lnTo>
                <a:lnTo>
                  <a:pt x="173608" y="340995"/>
                </a:lnTo>
                <a:lnTo>
                  <a:pt x="215519" y="308228"/>
                </a:lnTo>
                <a:lnTo>
                  <a:pt x="243331" y="271145"/>
                </a:lnTo>
                <a:lnTo>
                  <a:pt x="267461" y="232283"/>
                </a:lnTo>
                <a:lnTo>
                  <a:pt x="291210" y="197612"/>
                </a:lnTo>
                <a:lnTo>
                  <a:pt x="317753" y="172593"/>
                </a:lnTo>
                <a:lnTo>
                  <a:pt x="350520" y="162941"/>
                </a:lnTo>
                <a:lnTo>
                  <a:pt x="385572" y="169672"/>
                </a:lnTo>
                <a:lnTo>
                  <a:pt x="405891" y="186182"/>
                </a:lnTo>
                <a:lnTo>
                  <a:pt x="415671" y="206883"/>
                </a:lnTo>
                <a:lnTo>
                  <a:pt x="419353" y="226060"/>
                </a:lnTo>
                <a:lnTo>
                  <a:pt x="419353" y="223138"/>
                </a:lnTo>
                <a:lnTo>
                  <a:pt x="414147" y="180721"/>
                </a:lnTo>
                <a:lnTo>
                  <a:pt x="399414" y="141731"/>
                </a:lnTo>
                <a:lnTo>
                  <a:pt x="376808" y="106425"/>
                </a:lnTo>
                <a:lnTo>
                  <a:pt x="347599" y="74802"/>
                </a:lnTo>
                <a:lnTo>
                  <a:pt x="294385" y="34671"/>
                </a:lnTo>
                <a:lnTo>
                  <a:pt x="228726" y="1524"/>
                </a:lnTo>
                <a:lnTo>
                  <a:pt x="224408" y="0"/>
                </a:lnTo>
                <a:close/>
              </a:path>
            </a:pathLst>
          </a:custGeom>
          <a:solidFill>
            <a:srgbClr val="006D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0939" y="238455"/>
            <a:ext cx="294259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-my.sharepoint.com/:b:/p/ayush_c_kumar-singh/IQAy1mvvw8i7T6fLJVnCI8M-Adk54xhfznMG5-J9XlOcOjo?e=Wncsm5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apgemini-my.sharepoint.com/:v:/p/ayush_c_kumar-singh/IQDj1__VsIsRRbWfe_G7HsGtAUbOngDi8rxUGJXvDR7BY9s?e=VSCk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pgemini-my.sharepoint.com/:v:/p/ayush_c_kumar-singh/IQAUG8F4SVwZQYmNzan1K9hAAXRZFbueTmZmHtmbkgFua4Q?e=iqUYpT" TargetMode="External"/><Relationship Id="rId5" Type="http://schemas.openxmlformats.org/officeDocument/2006/relationships/image" Target="../media/image2.jpg"/><Relationship Id="rId4" Type="http://schemas.openxmlformats.org/officeDocument/2006/relationships/hyperlink" Target="mailto:abhay.b.goyal@capgemini.com" TargetMode="External"/><Relationship Id="rId9" Type="http://schemas.openxmlformats.org/officeDocument/2006/relationships/hyperlink" Target="https://capgemini-my.sharepoint.com/:b:/p/ayush_c_kumar-singh/IQDjA7szSwvNTLu6Jqh724FeARNQMeSw1J3ZxcWAt5rHyl0?e=TZmiY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368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5455" algn="l"/>
                <a:tab pos="11638280" algn="l"/>
              </a:tabLst>
            </a:pP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Presentation</a:t>
            </a:r>
            <a:r>
              <a:rPr sz="800" spc="-5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Title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Author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-4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Date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	©</a:t>
            </a:r>
            <a:r>
              <a:rPr sz="800" spc="-3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Capgemini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2017.</a:t>
            </a:r>
            <a:r>
              <a:rPr sz="800" spc="-8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4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rights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reserved</a:t>
            </a:r>
            <a:r>
              <a:rPr sz="800" spc="2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12ABDB"/>
                </a:solidFill>
                <a:latin typeface="Verdana"/>
                <a:cs typeface="Verdana"/>
              </a:rPr>
              <a:t>|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	</a:t>
            </a:r>
            <a:r>
              <a:rPr sz="800" spc="-5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5"/>
            <a:ext cx="12179299" cy="6857998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458233"/>
              </p:ext>
            </p:extLst>
          </p:nvPr>
        </p:nvGraphicFramePr>
        <p:xfrm>
          <a:off x="9229470" y="1558927"/>
          <a:ext cx="2952115" cy="49942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C# /</a:t>
                      </a:r>
                      <a:r>
                        <a:rPr sz="7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.NET</a:t>
                      </a:r>
                      <a:r>
                        <a:rPr sz="700" b="1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Core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1631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C#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Fundamentals,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OOP,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SOLID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Principles,</a:t>
                      </a:r>
                      <a:r>
                        <a:rPr sz="7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Design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Patterns,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Dependency Injection,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LINQ</a:t>
                      </a:r>
                      <a:r>
                        <a:rPr sz="7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Queries,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Async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Programming.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ASP.NET</a:t>
                      </a:r>
                      <a:r>
                        <a:rPr sz="700" b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Core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12ABDB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27686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Web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API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Development,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Middleware, Configuration</a:t>
                      </a:r>
                      <a:r>
                        <a:rPr sz="7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Management, Authentication</a:t>
                      </a:r>
                      <a:r>
                        <a:rPr sz="7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7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Authorization,</a:t>
                      </a:r>
                      <a:r>
                        <a:rPr sz="7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Model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Binding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719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5250" marR="2628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Entity 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Framework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8265" marR="18288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spc="-25" dirty="0">
                          <a:latin typeface="Verdana"/>
                          <a:cs typeface="Verdana"/>
                        </a:rPr>
                        <a:t>Code-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First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Approach,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Database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Migrations,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LINQ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SQL,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Repository Pattern,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Annotations,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Performance Optimization.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4571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20" dirty="0">
                          <a:latin typeface="Verdana"/>
                          <a:cs typeface="Verdana"/>
                        </a:rPr>
                        <a:t>.NET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Architecture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700" spc="-30" dirty="0">
                          <a:latin typeface="Verdana"/>
                          <a:cs typeface="Verdana"/>
                        </a:rPr>
                        <a:t>3-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Layer</a:t>
                      </a:r>
                      <a:r>
                        <a:rPr sz="7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Repository</a:t>
                      </a:r>
                      <a:r>
                        <a:rPr sz="7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Pattern, Dependency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Injection,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Service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Layer,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Clean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Architecture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.NET</a:t>
                      </a:r>
                      <a:r>
                        <a:rPr sz="700" b="1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Testing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8265" marR="1790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NUnit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Framework,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Unit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Testing,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Integration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Testing,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Test-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Driven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Development,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Mocking,</a:t>
                      </a:r>
                      <a:r>
                        <a:rPr sz="7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Code</a:t>
                      </a:r>
                      <a:r>
                        <a:rPr sz="7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Coverage.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692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Authentication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803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JWT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Token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Implementation,</a:t>
                      </a:r>
                      <a:r>
                        <a:rPr sz="7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Role-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based Authorization,</a:t>
                      </a:r>
                      <a:r>
                        <a:rPr sz="7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Claims-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700" spc="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Security,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OAuth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2.0,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Identity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Framework.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Angular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8265" marR="1441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Verdana"/>
                          <a:cs typeface="Verdana"/>
                        </a:rPr>
                        <a:t>Components,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Services,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Routing,</a:t>
                      </a:r>
                      <a:r>
                        <a:rPr sz="7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HTTP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Client,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Reactive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Forms,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TypeScript,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RxJS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Observables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Database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26987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SQL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Server,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SSMS,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Entity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Framework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Code-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First,</a:t>
                      </a:r>
                      <a:r>
                        <a:rPr sz="7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LINQ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UI</a:t>
                      </a:r>
                      <a:r>
                        <a:rPr sz="700" b="1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Tech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HTML5,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CSS3,TypeScript,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Bootstrap.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819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API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Tools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1048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10" dirty="0">
                          <a:latin typeface="Verdana"/>
                          <a:cs typeface="Verdana"/>
                        </a:rPr>
                        <a:t>Swagger/OpenAPI,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Postman,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REST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Client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Testing,</a:t>
                      </a:r>
                      <a:r>
                        <a:rPr sz="7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API</a:t>
                      </a:r>
                      <a:r>
                        <a:rPr sz="7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Documentation,</a:t>
                      </a:r>
                      <a:r>
                        <a:rPr sz="7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Endpoint Validation.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b="1" spc="-10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700" b="1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700" b="1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skills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72000" lvl="0"/>
                      <a:r>
                        <a:rPr lang="en-US" sz="700" b="0" i="0" u="none" strike="noStrike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Gen-AI, JAVA, PostgreSQL , MongoDB ,        MERN Full Stack, Problem Solving, Code   Optimization, Technical Documentation.	</a:t>
                      </a:r>
                    </a:p>
                  </a:txBody>
                  <a:tcPr marL="0" marR="0" marT="7683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594725" y="2387522"/>
            <a:ext cx="3448437" cy="4382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1100" b="1" dirty="0" err="1">
                <a:latin typeface="Verdana" panose="020B0604030504040204" pitchFamily="34" charset="0"/>
                <a:ea typeface="Verdana" panose="020B0604030504040204" pitchFamily="34" charset="0"/>
              </a:rPr>
              <a:t>VoiceWizz</a:t>
            </a: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 - GenAI-Powered Translation   Assistant</a:t>
            </a:r>
          </a:p>
          <a:p>
            <a:pPr algn="just"/>
            <a:endParaRPr lang="en-US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Tech Stack: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ASP.NET Core 8.0, Angular 17, Speech Synthesis API, Speech Recognition API</a:t>
            </a:r>
          </a:p>
          <a:p>
            <a:pPr algn="just"/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Description: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Built full-stack translation application using ASP.NET Core 8.0, Angular 17, Speech Synthesis API, Speech Recognition API, JWT authentication, Real-time communication, and Entity Framework Core with SQL Server database.</a:t>
            </a: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Features: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Developed multi-modal translation system with text/voice input, real-time cross-language conversations, intelligent agent assistance, and comprehensive chat history management across 7 languages.</a:t>
            </a: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Technical Highlights: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Created responsive SPA with intuitive UI, Web Speech API integration, modular TypeScript components, RESTful APIs, CORS configuration, and scalable microservices architecture with proper error handling.</a:t>
            </a:r>
          </a:p>
          <a:p>
            <a:pPr algn="just"/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/>
              <a:t>Check out my work on Video Profile   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1795" y="682497"/>
            <a:ext cx="30105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Senior</a:t>
            </a: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2333625"/>
            <a:ext cx="5289931" cy="455829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480" algn="just">
              <a:lnSpc>
                <a:spcPct val="100000"/>
              </a:lnSpc>
              <a:spcBef>
                <a:spcPts val="305"/>
              </a:spcBef>
            </a:pPr>
            <a:r>
              <a:rPr sz="1100" b="1" spc="-1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Strengths</a:t>
            </a:r>
            <a:endParaRPr sz="11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200"/>
              </a:spcBef>
            </a:pPr>
            <a:r>
              <a:rPr sz="11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Full</a:t>
            </a:r>
            <a:r>
              <a:rPr sz="1100" b="1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100" b="1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Stack</a:t>
            </a:r>
            <a:r>
              <a:rPr sz="1100" b="1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100" b="1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Developer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44000" algn="just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Hands-on experience in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C# &amp; ASP.NET Core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with OOP, dependency injection, and 3-layer architecture; skilled in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Angular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for responsive UI, Real-time communication, 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GenAI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project implementation with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AI/Language Model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integration 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Speech Synthesis API and Speech Recognition API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for speech to text and text to speech conversion.</a:t>
            </a:r>
          </a:p>
          <a:p>
            <a:pPr marL="144000" algn="just"/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2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Projects</a:t>
            </a:r>
            <a:endParaRPr lang="en-US" sz="1000" b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Crop-Deal Full-Stack Application</a:t>
            </a: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Tech Stack: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ASP.NET Core, Angular, SQL Server, Entity Framework, JWT, </a:t>
            </a:r>
            <a:r>
              <a:rPr lang="en-US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Razorpay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Description: 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Built a full-stack Crop Deal Application using ASP.NET Core, Angular, and     SQL Server with Entity Framework. Implemented Repository pattern, global exception handling, and SMTP notifications.</a:t>
            </a:r>
          </a:p>
          <a:p>
            <a:pPr algn="just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Features: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Promo codes, reviews, Stripe payments, JWT authentication, Identity Framework, modular Angular components, reactive forms, interceptors, route guards, and responsive UI.</a:t>
            </a:r>
          </a:p>
          <a:p>
            <a:pPr algn="l"/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Technical Highlights:</a:t>
            </a:r>
          </a:p>
          <a:p>
            <a:pPr algn="l">
              <a:spcAft>
                <a:spcPts val="300"/>
              </a:spcAft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EF Core Code-First, LINQ, dependency injection, API versioning, real-time email alerts, and validation.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/>
              <a:t>Check out my work on Video Profile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Ayush</a:t>
            </a:r>
            <a:r>
              <a:rPr spc="-145" dirty="0"/>
              <a:t> </a:t>
            </a:r>
            <a:r>
              <a:rPr dirty="0"/>
              <a:t>Kumar</a:t>
            </a:r>
            <a:r>
              <a:rPr spc="-114" dirty="0"/>
              <a:t> </a:t>
            </a:r>
            <a:r>
              <a:rPr spc="-20" dirty="0"/>
              <a:t>Singh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30906" y="1266545"/>
            <a:ext cx="6372861" cy="125739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650" b="1" spc="-142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sz="1650" b="1" spc="30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Bangalore</a:t>
            </a:r>
            <a:endParaRPr sz="1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r>
              <a:rPr sz="1100" b="1" spc="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u="heavy" spc="-25" dirty="0">
                <a:solidFill>
                  <a:srgbClr val="85D2EB"/>
                </a:solidFill>
                <a:uFill>
                  <a:solidFill>
                    <a:srgbClr val="85D2EB"/>
                  </a:solidFill>
                </a:uFill>
                <a:latin typeface="Verdana"/>
                <a:cs typeface="Verdana"/>
              </a:rPr>
              <a:t>ayush.c.kumar-</a:t>
            </a:r>
            <a:r>
              <a:rPr sz="1100" u="heavy" spc="-10" dirty="0">
                <a:solidFill>
                  <a:srgbClr val="85D2EB"/>
                </a:solidFill>
                <a:uFill>
                  <a:solidFill>
                    <a:srgbClr val="85D2EB"/>
                  </a:solidFill>
                </a:uFill>
                <a:latin typeface="Verdana"/>
                <a:cs typeface="Verdana"/>
              </a:rPr>
              <a:t>singh</a:t>
            </a:r>
            <a:r>
              <a:rPr sz="1650" u="heavy" spc="-15" baseline="2525" dirty="0">
                <a:solidFill>
                  <a:srgbClr val="85D2EB"/>
                </a:solidFill>
                <a:uFill>
                  <a:solidFill>
                    <a:srgbClr val="85D2EB"/>
                  </a:solidFill>
                </a:uFill>
                <a:latin typeface="Verdana"/>
                <a:cs typeface="Verdana"/>
                <a:hlinkClick r:id="rId4"/>
              </a:rPr>
              <a:t>@capgemini.com</a:t>
            </a:r>
            <a:endParaRPr sz="1650" baseline="2525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sz="1650" spc="-37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8318829910</a:t>
            </a:r>
            <a:endParaRPr sz="1650" baseline="2525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135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Verdana"/>
                <a:cs typeface="Verdana"/>
              </a:rPr>
              <a:t>A5</a:t>
            </a:r>
            <a:endParaRPr sz="1100" dirty="0">
              <a:latin typeface="Verdana"/>
              <a:cs typeface="Verdana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		</a:t>
            </a:r>
            <a:endParaRPr sz="1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19006" y="-24765"/>
            <a:ext cx="2720594" cy="156062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endParaRPr lang="en-US" sz="1200" b="1" dirty="0">
              <a:solidFill>
                <a:srgbClr val="006DAC"/>
              </a:solidFill>
              <a:latin typeface="Verdana"/>
              <a:cs typeface="Verdana"/>
            </a:endParaRPr>
          </a:p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r>
              <a:rPr sz="1200" b="1" dirty="0">
                <a:solidFill>
                  <a:srgbClr val="006DAC"/>
                </a:solidFill>
                <a:latin typeface="Verdana"/>
                <a:cs typeface="Verdana"/>
              </a:rPr>
              <a:t>Education</a:t>
            </a:r>
            <a:r>
              <a:rPr sz="1200" b="1" spc="-80" dirty="0">
                <a:solidFill>
                  <a:srgbClr val="006DAC"/>
                </a:solidFill>
                <a:latin typeface="Verdana"/>
                <a:cs typeface="Verdana"/>
              </a:rPr>
              <a:t> </a:t>
            </a:r>
            <a:endParaRPr lang="en-US" sz="1200" b="1" spc="-80" dirty="0">
              <a:solidFill>
                <a:srgbClr val="006DAC"/>
              </a:solidFill>
              <a:latin typeface="Verdana"/>
              <a:cs typeface="Verdana"/>
            </a:endParaRPr>
          </a:p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r>
              <a:rPr sz="1000" dirty="0">
                <a:latin typeface="Verdana"/>
                <a:cs typeface="Verdana"/>
              </a:rPr>
              <a:t>Bachelor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of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Technology, </a:t>
            </a:r>
            <a:r>
              <a:rPr sz="1000" spc="-40" dirty="0">
                <a:latin typeface="Verdana"/>
                <a:cs typeface="Verdana"/>
              </a:rPr>
              <a:t>Information</a:t>
            </a:r>
            <a:endParaRPr lang="en-US" sz="1000" spc="-40" dirty="0">
              <a:latin typeface="Verdana"/>
              <a:cs typeface="Verdana"/>
            </a:endParaRPr>
          </a:p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r>
              <a:rPr sz="1000" spc="-35" dirty="0">
                <a:latin typeface="Verdana"/>
                <a:cs typeface="Verdana"/>
              </a:rPr>
              <a:t>Technology: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2021</a:t>
            </a:r>
            <a:r>
              <a:rPr sz="1000" spc="60" dirty="0">
                <a:latin typeface="Verdana"/>
                <a:cs typeface="Verdana"/>
              </a:rPr>
              <a:t> </a:t>
            </a:r>
            <a:r>
              <a:rPr lang="en-US" sz="1000" spc="-50" dirty="0">
                <a:latin typeface="Verdana"/>
                <a:cs typeface="Verdana"/>
              </a:rPr>
              <a:t>–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2025</a:t>
            </a:r>
            <a:endParaRPr lang="en-US" sz="1000" spc="-20" dirty="0">
              <a:latin typeface="Verdana"/>
              <a:cs typeface="Verdana"/>
            </a:endParaRPr>
          </a:p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r>
              <a:rPr lang="en-US" sz="1200" b="1" spc="-20" dirty="0">
                <a:solidFill>
                  <a:srgbClr val="006DAC"/>
                </a:solidFill>
                <a:latin typeface="Verdana"/>
                <a:cs typeface="Verdana"/>
              </a:rPr>
              <a:t>Certificates – (Azure )</a:t>
            </a:r>
            <a:endParaRPr lang="en-US" sz="1000" b="1" spc="-20" dirty="0">
              <a:latin typeface="Verdana"/>
              <a:cs typeface="Verdana"/>
            </a:endParaRPr>
          </a:p>
          <a:p>
            <a:pPr marL="36000" marR="5080" indent="-132715">
              <a:lnSpc>
                <a:spcPct val="118700"/>
              </a:lnSpc>
              <a:spcBef>
                <a:spcPts val="145"/>
              </a:spcBef>
            </a:pPr>
            <a:r>
              <a:rPr lang="en-US" sz="1000" dirty="0">
                <a:latin typeface="Verdana"/>
                <a:cs typeface="Verdana"/>
              </a:rPr>
              <a:t>AZ – 900              AI - 900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b="1" spc="-10" dirty="0">
                <a:solidFill>
                  <a:srgbClr val="006DAC"/>
                </a:solidFill>
                <a:latin typeface="Verdana"/>
                <a:cs typeface="Verdana"/>
              </a:rPr>
              <a:t>Skills</a:t>
            </a:r>
            <a:endParaRPr sz="1000" dirty="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915" y="231432"/>
            <a:ext cx="1646287" cy="1786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Action Button: Go Forward or Next 14">
            <a:hlinkClick r:id="rId6"/>
            <a:extLst>
              <a:ext uri="{FF2B5EF4-FFF2-40B4-BE49-F238E27FC236}">
                <a16:creationId xmlns:a16="http://schemas.microsoft.com/office/drawing/2014/main" id="{F504A72C-C30C-E0CA-4B8D-A04782AB80BC}"/>
              </a:ext>
            </a:extLst>
          </p:cNvPr>
          <p:cNvSpPr/>
          <p:nvPr/>
        </p:nvSpPr>
        <p:spPr>
          <a:xfrm>
            <a:off x="2971800" y="6346383"/>
            <a:ext cx="280416" cy="27509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ction Button: Go Forward or Next 17">
            <a:hlinkClick r:id="rId7"/>
            <a:extLst>
              <a:ext uri="{FF2B5EF4-FFF2-40B4-BE49-F238E27FC236}">
                <a16:creationId xmlns:a16="http://schemas.microsoft.com/office/drawing/2014/main" id="{247081CA-D1C4-1066-90DE-016A7D65F044}"/>
              </a:ext>
            </a:extLst>
          </p:cNvPr>
          <p:cNvSpPr/>
          <p:nvPr/>
        </p:nvSpPr>
        <p:spPr>
          <a:xfrm>
            <a:off x="8396517" y="6367180"/>
            <a:ext cx="290283" cy="26222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9" name="Action Button: Document 18">
            <a:hlinkClick r:id="rId8"/>
            <a:extLst>
              <a:ext uri="{FF2B5EF4-FFF2-40B4-BE49-F238E27FC236}">
                <a16:creationId xmlns:a16="http://schemas.microsoft.com/office/drawing/2014/main" id="{B569F0DE-1082-13C9-CF80-F042B203103D}"/>
              </a:ext>
            </a:extLst>
          </p:cNvPr>
          <p:cNvSpPr/>
          <p:nvPr/>
        </p:nvSpPr>
        <p:spPr>
          <a:xfrm>
            <a:off x="11125200" y="1066800"/>
            <a:ext cx="228600" cy="213479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ction Button: Document 19">
            <a:hlinkClick r:id="rId9"/>
            <a:extLst>
              <a:ext uri="{FF2B5EF4-FFF2-40B4-BE49-F238E27FC236}">
                <a16:creationId xmlns:a16="http://schemas.microsoft.com/office/drawing/2014/main" id="{EAA742FE-8DF7-2891-2A2B-17B970657F20}"/>
              </a:ext>
            </a:extLst>
          </p:cNvPr>
          <p:cNvSpPr/>
          <p:nvPr/>
        </p:nvSpPr>
        <p:spPr>
          <a:xfrm>
            <a:off x="9982200" y="1066800"/>
            <a:ext cx="228600" cy="213479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D2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4043</TotalTime>
  <Words>597</Words>
  <Application>Microsoft Office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Calibri</vt:lpstr>
      <vt:lpstr>Verdana</vt:lpstr>
      <vt:lpstr>Office Theme</vt:lpstr>
      <vt:lpstr>Ayush Kumar Singh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Ayush Singh</dc:creator>
  <cp:lastModifiedBy>Kumar Singh, Ayush</cp:lastModifiedBy>
  <cp:revision>9</cp:revision>
  <dcterms:created xsi:type="dcterms:W3CDTF">2025-11-11T09:20:27Z</dcterms:created>
  <dcterms:modified xsi:type="dcterms:W3CDTF">2026-02-02T05:27:33Z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2025-11-11T00:00:00Z</vt:filetime>
  </property>
  <property fmtid="{D5CDD505-2E9C-101B-9397-08002B2CF9AE}" pid="5" name="Producer">
    <vt:lpwstr>Microsoft® PowerPoint® for Microsoft 365</vt:lpwstr>
  </property>
</Properties>
</file>